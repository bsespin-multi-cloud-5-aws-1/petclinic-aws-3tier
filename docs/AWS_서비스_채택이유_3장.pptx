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요청이 지나가는 길: 사용자 → Route 53 → CloudFront + WAF → Public ALB → WEB(Apache) → Internal ALB → WAS(Tomcat) → RDS Proxy → RDS(MySQL). 대응 원칙: 1) 앞에서 거른다 2) 부족하면 늘린다 3) DB는 지킨다. 발표 한 문장: 앞에서 거르고(CloudFront·WAF), 중간은 자동으로 늘리고(ASG), DB는 지킵니다(Proxy·Multi-AZ). 그리고 전부 CloudWatch로 재서 전/후를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서비스는 문제 → 해결 한 줄로만 설명. 설정 수치나 지표 이름은 상세판(docs/03-service-rationale.md) 참고.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SSM과 NAT는 방향이 다르다(들어오는 길 vs 나가는 길). Q2 NAT는 인바운드를 못 받으므로 접속 수단은 별도 필요, SSM이 Bastion보다 관리 부담이 적다. Q3 DB는 상태가 있어 복제 증설이 어렵다. Read Replica는 앱 수정 필요로 로드맵.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1팀  /  MISSION CRITICAL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서비스, 왜 쓰나 — 전체 그림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폭주 시나리오: 유튜브 노출로 요청이 평시의 10배 (초당 50 → 500~1,000)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713232" cy="7132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8600" y="273405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335024" y="2240280"/>
            <a:ext cx="434340" cy="164592"/>
          </a:xfrm>
          <a:prstGeom prst="rightArrow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516" y="1965960"/>
            <a:ext cx="713232" cy="7132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22476" y="273405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53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628900" y="2240280"/>
            <a:ext cx="434340" cy="164592"/>
          </a:xfrm>
          <a:prstGeom prst="rightArrow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392" y="1965960"/>
            <a:ext cx="713232" cy="7132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816352" y="273405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CloudFront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WAF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922776" y="2240280"/>
            <a:ext cx="434340" cy="164592"/>
          </a:xfrm>
          <a:prstGeom prst="rightArrow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1965960"/>
            <a:ext cx="713232" cy="7132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110228" y="273405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ALB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5216652" y="2240280"/>
            <a:ext cx="434340" cy="164592"/>
          </a:xfrm>
          <a:prstGeom prst="rightArrow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144" y="1965960"/>
            <a:ext cx="713232" cy="71323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04104" y="273405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6510528" y="2240280"/>
            <a:ext cx="434340" cy="164592"/>
          </a:xfrm>
          <a:prstGeom prst="rightArrow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020" y="1965960"/>
            <a:ext cx="713232" cy="71323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697980" y="273405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ALB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7804404" y="2240280"/>
            <a:ext cx="434340" cy="164592"/>
          </a:xfrm>
          <a:prstGeom prst="rightArrow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1896" y="1965960"/>
            <a:ext cx="713232" cy="71323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991856" y="273405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Tomcat</a:t>
            </a:r>
            <a:endParaRPr lang="en-US" sz="1050" dirty="0"/>
          </a:p>
        </p:txBody>
      </p:sp>
      <p:sp>
        <p:nvSpPr>
          <p:cNvPr id="26" name="Shape 17"/>
          <p:cNvSpPr/>
          <p:nvPr/>
        </p:nvSpPr>
        <p:spPr>
          <a:xfrm>
            <a:off x="9098280" y="2240280"/>
            <a:ext cx="434340" cy="164592"/>
          </a:xfrm>
          <a:prstGeom prst="rightArrow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5772" y="1965960"/>
            <a:ext cx="713232" cy="713232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285732" y="273405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Proxy</a:t>
            </a:r>
            <a:endParaRPr lang="en-US" sz="1050" dirty="0"/>
          </a:p>
        </p:txBody>
      </p:sp>
      <p:sp>
        <p:nvSpPr>
          <p:cNvPr id="29" name="Shape 19"/>
          <p:cNvSpPr/>
          <p:nvPr/>
        </p:nvSpPr>
        <p:spPr>
          <a:xfrm>
            <a:off x="10392156" y="2240280"/>
            <a:ext cx="434340" cy="164592"/>
          </a:xfrm>
          <a:prstGeom prst="rightArrow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99648" y="1965960"/>
            <a:ext cx="713232" cy="713232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10579608" y="273405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MySQL</a:t>
            </a:r>
            <a:endParaRPr lang="en-US" sz="1050" dirty="0"/>
          </a:p>
        </p:txBody>
      </p:sp>
      <p:sp>
        <p:nvSpPr>
          <p:cNvPr id="32" name="Shape 21"/>
          <p:cNvSpPr/>
          <p:nvPr/>
        </p:nvSpPr>
        <p:spPr>
          <a:xfrm>
            <a:off x="1751076" y="3246120"/>
            <a:ext cx="3483864" cy="329184"/>
          </a:xfrm>
          <a:prstGeom prst="roundRect">
            <a:avLst>
              <a:gd name="adj" fmla="val 22222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33" name="Text 22"/>
          <p:cNvSpPr txBox="1"/>
          <p:nvPr/>
        </p:nvSpPr>
        <p:spPr>
          <a:xfrm>
            <a:off x="1751076" y="3246120"/>
            <a:ext cx="3483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진입 · 앞에서 거른다</a:t>
            </a:r>
            <a:endParaRPr lang="en-US" sz="1150" dirty="0"/>
          </a:p>
        </p:txBody>
      </p:sp>
      <p:sp>
        <p:nvSpPr>
          <p:cNvPr id="34" name="Shape 23"/>
          <p:cNvSpPr/>
          <p:nvPr/>
        </p:nvSpPr>
        <p:spPr>
          <a:xfrm>
            <a:off x="4338828" y="3246120"/>
            <a:ext cx="4777740" cy="329184"/>
          </a:xfrm>
          <a:prstGeom prst="roundRect">
            <a:avLst>
              <a:gd name="adj" fmla="val 22222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35" name="Text 24"/>
          <p:cNvSpPr txBox="1"/>
          <p:nvPr/>
        </p:nvSpPr>
        <p:spPr>
          <a:xfrm>
            <a:off x="4338828" y="3246120"/>
            <a:ext cx="4777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· WAS · 부족하면 늘린다</a:t>
            </a:r>
            <a:endParaRPr lang="en-US" sz="1150" dirty="0"/>
          </a:p>
        </p:txBody>
      </p:sp>
      <p:sp>
        <p:nvSpPr>
          <p:cNvPr id="36" name="Shape 25"/>
          <p:cNvSpPr/>
          <p:nvPr/>
        </p:nvSpPr>
        <p:spPr>
          <a:xfrm>
            <a:off x="9514332" y="3246120"/>
            <a:ext cx="2189988" cy="329184"/>
          </a:xfrm>
          <a:prstGeom prst="roundRect">
            <a:avLst>
              <a:gd name="adj" fmla="val 22222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37" name="Text 26"/>
          <p:cNvSpPr txBox="1"/>
          <p:nvPr/>
        </p:nvSpPr>
        <p:spPr>
          <a:xfrm>
            <a:off x="9514332" y="3246120"/>
            <a:ext cx="21899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· 하나뿐이니 지킨다</a:t>
            </a:r>
            <a:endParaRPr lang="en-US" sz="1150" dirty="0"/>
          </a:p>
        </p:txBody>
      </p:sp>
      <p:sp>
        <p:nvSpPr>
          <p:cNvPr id="38" name="Shape 27"/>
          <p:cNvSpPr/>
          <p:nvPr/>
        </p:nvSpPr>
        <p:spPr>
          <a:xfrm>
            <a:off x="548640" y="39319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1F2D4E"/>
          </a:solidFill>
          <a:ln w="12700">
            <a:solidFill>
              <a:srgbClr val="1F2D4E"/>
            </a:solidFill>
            <a:prstDash val="solid"/>
          </a:ln>
        </p:spPr>
      </p:sp>
      <p:sp>
        <p:nvSpPr>
          <p:cNvPr id="40" name="Text 29"/>
          <p:cNvSpPr txBox="1"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0"/>
          <p:cNvSpPr txBox="1"/>
          <p:nvPr/>
        </p:nvSpPr>
        <p:spPr>
          <a:xfrm>
            <a:off x="1417320" y="4160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앞에서 거른다</a:t>
            </a:r>
            <a:endParaRPr lang="en-US" sz="1700" dirty="0"/>
          </a:p>
        </p:txBody>
      </p:sp>
      <p:sp>
        <p:nvSpPr>
          <p:cNvPr id="42" name="Text 31"/>
          <p:cNvSpPr txBox="1"/>
          <p:nvPr/>
        </p:nvSpPr>
        <p:spPr>
          <a:xfrm>
            <a:off x="777240" y="4800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같은 정적 파일과 이상 트래픽은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서버까지 오지 못하게 한다.</a:t>
            </a:r>
            <a:endParaRPr lang="en-US" sz="1200" dirty="0"/>
          </a:p>
        </p:txBody>
      </p:sp>
      <p:sp>
        <p:nvSpPr>
          <p:cNvPr id="43" name="Text 32"/>
          <p:cNvSpPr txBox="1"/>
          <p:nvPr/>
        </p:nvSpPr>
        <p:spPr>
          <a:xfrm>
            <a:off x="777240" y="5577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CloudFront · WAF</a:t>
            </a:r>
            <a:endParaRPr lang="en-US" sz="1100" dirty="0"/>
          </a:p>
        </p:txBody>
      </p:sp>
      <p:sp>
        <p:nvSpPr>
          <p:cNvPr id="44" name="Shape 33"/>
          <p:cNvSpPr/>
          <p:nvPr/>
        </p:nvSpPr>
        <p:spPr>
          <a:xfrm>
            <a:off x="4320540" y="39319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4549140" y="4160520"/>
            <a:ext cx="502920" cy="502920"/>
          </a:xfrm>
          <a:prstGeom prst="ellipse">
            <a:avLst/>
          </a:prstGeom>
          <a:solidFill>
            <a:srgbClr val="1F2D4E"/>
          </a:solidFill>
          <a:ln w="12700">
            <a:solidFill>
              <a:srgbClr val="1F2D4E"/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45491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Text 36"/>
          <p:cNvSpPr txBox="1"/>
          <p:nvPr/>
        </p:nvSpPr>
        <p:spPr>
          <a:xfrm>
            <a:off x="5189220" y="4160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부족하면 늘린다</a:t>
            </a:r>
            <a:endParaRPr lang="en-US" sz="1700" dirty="0"/>
          </a:p>
        </p:txBody>
      </p:sp>
      <p:sp>
        <p:nvSpPr>
          <p:cNvPr id="48" name="Text 37"/>
          <p:cNvSpPr txBox="1"/>
          <p:nvPr/>
        </p:nvSpPr>
        <p:spPr>
          <a:xfrm>
            <a:off x="4549140" y="4800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WEB·WAS 서버는 복제할 수 있으니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자동으로 증설한다.</a:t>
            </a:r>
            <a:endParaRPr lang="en-US" sz="1200" dirty="0"/>
          </a:p>
        </p:txBody>
      </p:sp>
      <p:sp>
        <p:nvSpPr>
          <p:cNvPr id="49" name="Text 38"/>
          <p:cNvSpPr txBox="1"/>
          <p:nvPr/>
        </p:nvSpPr>
        <p:spPr>
          <a:xfrm>
            <a:off x="4549140" y="5577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 · Auto Scaling</a:t>
            </a:r>
            <a:endParaRPr lang="en-US" sz="1100" dirty="0"/>
          </a:p>
        </p:txBody>
      </p:sp>
      <p:sp>
        <p:nvSpPr>
          <p:cNvPr id="50" name="Shape 39"/>
          <p:cNvSpPr/>
          <p:nvPr/>
        </p:nvSpPr>
        <p:spPr>
          <a:xfrm>
            <a:off x="8092440" y="39319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8321040" y="4160520"/>
            <a:ext cx="502920" cy="502920"/>
          </a:xfrm>
          <a:prstGeom prst="ellipse">
            <a:avLst/>
          </a:prstGeom>
          <a:solidFill>
            <a:srgbClr val="1F2D4E"/>
          </a:solidFill>
          <a:ln w="12700">
            <a:solidFill>
              <a:srgbClr val="1F2D4E"/>
            </a:solidFill>
            <a:prstDash val="solid"/>
          </a:ln>
        </p:spPr>
      </p:sp>
      <p:sp>
        <p:nvSpPr>
          <p:cNvPr id="52" name="Text 41"/>
          <p:cNvSpPr txBox="1"/>
          <p:nvPr/>
        </p:nvSpPr>
        <p:spPr>
          <a:xfrm>
            <a:off x="83210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42"/>
          <p:cNvSpPr txBox="1"/>
          <p:nvPr/>
        </p:nvSpPr>
        <p:spPr>
          <a:xfrm>
            <a:off x="8961120" y="4160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DB는 지킨다</a:t>
            </a:r>
            <a:endParaRPr lang="en-US" sz="1700" dirty="0"/>
          </a:p>
        </p:txBody>
      </p:sp>
      <p:sp>
        <p:nvSpPr>
          <p:cNvPr id="54" name="Text 43"/>
          <p:cNvSpPr txBox="1"/>
          <p:nvPr/>
        </p:nvSpPr>
        <p:spPr>
          <a:xfrm>
            <a:off x="8321040" y="4800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DB는 마음대로 못 늘리니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 수를 조절하고 예비 DB를 둔다.</a:t>
            </a:r>
            <a:endParaRPr lang="en-US" sz="1200" dirty="0"/>
          </a:p>
        </p:txBody>
      </p:sp>
      <p:sp>
        <p:nvSpPr>
          <p:cNvPr id="55" name="Text 44"/>
          <p:cNvSpPr txBox="1"/>
          <p:nvPr/>
        </p:nvSpPr>
        <p:spPr>
          <a:xfrm>
            <a:off x="8321040" y="5577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Proxy · Multi-AZ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1팀  /  MISSION CRITICAL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서비스별 한 줄 이유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서비스 = 한 줄.  문제 → 해결만 기억하면 됩니다.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진입 · 앞에서 거른다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2075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4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2075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4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22576"/>
            <a:ext cx="310896" cy="31089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15568" y="2286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53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2240280" y="2286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없으면 HTTPS·CloudFront 못 붙임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2286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도메인을 사서 CloudFront에 연결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0662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15568" y="26700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CloudFront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2240280" y="2670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정적 파일 요청이 서버 대역폭을 잡아먹음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160520" y="26700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정적 파일은 캐시로 대신 응답, 서버엔 동적 요청만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9067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15568" y="30540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2240280" y="30540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특정 IP·봇이 예약 API를 무한 호출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4160520" y="30540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IP당 요청 횟수 제한, 이상 요청은 서버 전에 차단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153912" y="169164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36792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· WAS · 부족하면 늘린다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7845552" y="2075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4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9765792" y="2075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4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</a:t>
            </a:r>
            <a:endParaRPr lang="en-US" sz="9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313432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720840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7845552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1대에 몰리면 죽고, 죽은 서버로 요청이 감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9765792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서버에 분산 + 헬스체크로 죽은 서버 자동 제외</a:t>
            </a:r>
            <a:endParaRPr lang="en-US" sz="9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2679192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72084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Apache·Tomcat 튜닝</a:t>
            </a:r>
            <a:endParaRPr lang="en-US" sz="950" dirty="0"/>
          </a:p>
        </p:txBody>
      </p:sp>
      <p:sp>
        <p:nvSpPr>
          <p:cNvPr id="32" name="Text 25"/>
          <p:cNvSpPr txBox="1"/>
          <p:nvPr/>
        </p:nvSpPr>
        <p:spPr>
          <a:xfrm>
            <a:off x="7845552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설정은 동시 접속 수가 낮음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9765792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늘리기 전에 1대당 처리량부터 올림</a:t>
            </a:r>
            <a:endParaRPr lang="en-US" sz="9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3044952"/>
            <a:ext cx="310896" cy="310896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720840" y="3017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Scaling</a:t>
            </a:r>
            <a:endParaRPr lang="en-US" sz="950" dirty="0"/>
          </a:p>
        </p:txBody>
      </p:sp>
      <p:sp>
        <p:nvSpPr>
          <p:cNvPr id="36" name="Text 28"/>
          <p:cNvSpPr txBox="1"/>
          <p:nvPr/>
        </p:nvSpPr>
        <p:spPr>
          <a:xfrm>
            <a:off x="7845552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폭주 때 사람이 서버를 손으로 못 늘림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9765792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60% 넘으면 자동 증설, 공개 시각에 맞춰 미리 예약</a:t>
            </a:r>
            <a:endParaRPr lang="en-US" sz="9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6792" y="3410712"/>
            <a:ext cx="310896" cy="310896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720840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SSM Session Manager</a:t>
            </a:r>
            <a:endParaRPr lang="en-US" sz="950" dirty="0"/>
          </a:p>
        </p:txBody>
      </p:sp>
      <p:sp>
        <p:nvSpPr>
          <p:cNvPr id="40" name="Text 31"/>
          <p:cNvSpPr txBox="1"/>
          <p:nvPr/>
        </p:nvSpPr>
        <p:spPr>
          <a:xfrm>
            <a:off x="7845552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Bastion 서버 + 22번 포트 + SSH 키 관리 필요</a:t>
            </a:r>
            <a:endParaRPr lang="en-US" sz="900" dirty="0"/>
          </a:p>
        </p:txBody>
      </p:sp>
      <p:sp>
        <p:nvSpPr>
          <p:cNvPr id="41" name="Text 32"/>
          <p:cNvSpPr txBox="1"/>
          <p:nvPr/>
        </p:nvSpPr>
        <p:spPr>
          <a:xfrm>
            <a:off x="9765792" y="3383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Bastion 없이 콘솔에서 접속, 포트 안 열고 기록 자동 저장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548640" y="40233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731520" y="4114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· 하나뿐이니 지킨다</a:t>
            </a:r>
            <a:endParaRPr lang="en-US" sz="1250" dirty="0"/>
          </a:p>
        </p:txBody>
      </p:sp>
      <p:sp>
        <p:nvSpPr>
          <p:cNvPr id="44" name="Text 35"/>
          <p:cNvSpPr txBox="1"/>
          <p:nvPr/>
        </p:nvSpPr>
        <p:spPr>
          <a:xfrm>
            <a:off x="2240280" y="4407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4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4160520" y="4407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4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</a:t>
            </a:r>
            <a:endParaRPr lang="en-US" sz="900" dirty="0"/>
          </a:p>
        </p:txBody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654296"/>
            <a:ext cx="310896" cy="310896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1115568" y="46177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Proxy</a:t>
            </a:r>
            <a:endParaRPr lang="en-US" sz="950" dirty="0"/>
          </a:p>
        </p:txBody>
      </p:sp>
      <p:sp>
        <p:nvSpPr>
          <p:cNvPr id="48" name="Text 38"/>
          <p:cNvSpPr txBox="1"/>
          <p:nvPr/>
        </p:nvSpPr>
        <p:spPr>
          <a:xfrm>
            <a:off x="2240280" y="4617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WAS가 8대로 늘면 DB 연결 한도 초과 → 거부</a:t>
            </a:r>
            <a:endParaRPr lang="en-US" sz="900" dirty="0"/>
          </a:p>
        </p:txBody>
      </p:sp>
      <p:sp>
        <p:nvSpPr>
          <p:cNvPr id="49" name="Text 39"/>
          <p:cNvSpPr txBox="1"/>
          <p:nvPr/>
        </p:nvSpPr>
        <p:spPr>
          <a:xfrm>
            <a:off x="4160520" y="4617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WAS와 DB 사이에서 연결을 모아 관리, 한도 안 넘게</a:t>
            </a:r>
            <a:endParaRPr lang="en-US" sz="900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5038344"/>
            <a:ext cx="310896" cy="310896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1115568" y="5001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Multi-AZ</a:t>
            </a:r>
            <a:endParaRPr lang="en-US" sz="950" dirty="0"/>
          </a:p>
        </p:txBody>
      </p:sp>
      <p:sp>
        <p:nvSpPr>
          <p:cNvPr id="52" name="Text 41"/>
          <p:cNvSpPr txBox="1"/>
          <p:nvPr/>
        </p:nvSpPr>
        <p:spPr>
          <a:xfrm>
            <a:off x="2240280" y="5001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1대가 죽으면 서비스 전체 중단</a:t>
            </a:r>
            <a:endParaRPr lang="en-US" sz="900" dirty="0"/>
          </a:p>
        </p:txBody>
      </p:sp>
      <p:sp>
        <p:nvSpPr>
          <p:cNvPr id="53" name="Text 42"/>
          <p:cNvSpPr txBox="1"/>
          <p:nvPr/>
        </p:nvSpPr>
        <p:spPr>
          <a:xfrm>
            <a:off x="4160520" y="50017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AZ에 예비 DB를 두고 장애 시 자동 전환</a:t>
            </a:r>
            <a:endParaRPr lang="en-US" sz="900" dirty="0"/>
          </a:p>
        </p:txBody>
      </p:sp>
      <p:sp>
        <p:nvSpPr>
          <p:cNvPr id="54" name="Shape 43"/>
          <p:cNvSpPr/>
          <p:nvPr/>
        </p:nvSpPr>
        <p:spPr>
          <a:xfrm>
            <a:off x="6153912" y="40233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55" name="Text 44"/>
          <p:cNvSpPr txBox="1"/>
          <p:nvPr/>
        </p:nvSpPr>
        <p:spPr>
          <a:xfrm>
            <a:off x="6336792" y="4114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· 보고 알린다</a:t>
            </a:r>
            <a:endParaRPr lang="en-US" sz="1250" dirty="0"/>
          </a:p>
        </p:txBody>
      </p:sp>
      <p:sp>
        <p:nvSpPr>
          <p:cNvPr id="56" name="Text 45"/>
          <p:cNvSpPr txBox="1"/>
          <p:nvPr/>
        </p:nvSpPr>
        <p:spPr>
          <a:xfrm>
            <a:off x="7845552" y="4407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4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900" dirty="0"/>
          </a:p>
        </p:txBody>
      </p:sp>
      <p:sp>
        <p:nvSpPr>
          <p:cNvPr id="57" name="Text 46"/>
          <p:cNvSpPr txBox="1"/>
          <p:nvPr/>
        </p:nvSpPr>
        <p:spPr>
          <a:xfrm>
            <a:off x="9765792" y="4407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4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</a:t>
            </a:r>
            <a:endParaRPr lang="en-US" sz="900" dirty="0"/>
          </a:p>
        </p:txBody>
      </p:sp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6792" y="4654296"/>
            <a:ext cx="310896" cy="310896"/>
          </a:xfrm>
          <a:prstGeom prst="rect">
            <a:avLst/>
          </a:prstGeom>
        </p:spPr>
      </p:pic>
      <p:sp>
        <p:nvSpPr>
          <p:cNvPr id="59" name="Text 47"/>
          <p:cNvSpPr txBox="1"/>
          <p:nvPr/>
        </p:nvSpPr>
        <p:spPr>
          <a:xfrm>
            <a:off x="6720840" y="46177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</a:t>
            </a:r>
            <a:endParaRPr lang="en-US" sz="950" dirty="0"/>
          </a:p>
        </p:txBody>
      </p:sp>
      <p:sp>
        <p:nvSpPr>
          <p:cNvPr id="60" name="Text 48"/>
          <p:cNvSpPr txBox="1"/>
          <p:nvPr/>
        </p:nvSpPr>
        <p:spPr>
          <a:xfrm>
            <a:off x="7845552" y="4617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어디가 느린지 모르면 뭘 고칠지 모름</a:t>
            </a:r>
            <a:endParaRPr lang="en-US" sz="900" dirty="0"/>
          </a:p>
        </p:txBody>
      </p:sp>
      <p:sp>
        <p:nvSpPr>
          <p:cNvPr id="61" name="Text 49"/>
          <p:cNvSpPr txBox="1"/>
          <p:nvPr/>
        </p:nvSpPr>
        <p:spPr>
          <a:xfrm>
            <a:off x="9765792" y="4617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계층별 지표를 한 화면에, 전/후 비교</a:t>
            </a:r>
            <a:endParaRPr lang="en-US" sz="900" dirty="0"/>
          </a:p>
        </p:txBody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6792" y="5038344"/>
            <a:ext cx="310896" cy="310896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6720840" y="5001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</a:t>
            </a:r>
            <a:endParaRPr lang="en-US" sz="950" dirty="0"/>
          </a:p>
        </p:txBody>
      </p:sp>
      <p:sp>
        <p:nvSpPr>
          <p:cNvPr id="64" name="Text 51"/>
          <p:cNvSpPr txBox="1"/>
          <p:nvPr/>
        </p:nvSpPr>
        <p:spPr>
          <a:xfrm>
            <a:off x="7845552" y="5001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알람이 콘솔에만 뜨면 아무도 못 봄</a:t>
            </a:r>
            <a:endParaRPr lang="en-US" sz="900" dirty="0"/>
          </a:p>
        </p:txBody>
      </p:sp>
      <p:sp>
        <p:nvSpPr>
          <p:cNvPr id="65" name="Text 52"/>
          <p:cNvSpPr txBox="1"/>
          <p:nvPr/>
        </p:nvSpPr>
        <p:spPr>
          <a:xfrm>
            <a:off x="9765792" y="50017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알람을 팀 채널(이메일·Slack)로 전송</a:t>
            </a:r>
            <a:endParaRPr lang="en-US" sz="900" dirty="0"/>
          </a:p>
        </p:txBody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6792" y="5422392"/>
            <a:ext cx="310896" cy="310896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6720840" y="53858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Manager</a:t>
            </a:r>
            <a:endParaRPr lang="en-US" sz="950" dirty="0"/>
          </a:p>
        </p:txBody>
      </p:sp>
      <p:sp>
        <p:nvSpPr>
          <p:cNvPr id="68" name="Text 54"/>
          <p:cNvSpPr txBox="1"/>
          <p:nvPr/>
        </p:nvSpPr>
        <p:spPr>
          <a:xfrm>
            <a:off x="7845552" y="53858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비밀번호가 코드·설정 파일에 남음</a:t>
            </a:r>
            <a:endParaRPr lang="en-US" sz="900" dirty="0"/>
          </a:p>
        </p:txBody>
      </p:sp>
      <p:sp>
        <p:nvSpPr>
          <p:cNvPr id="69" name="Text 55"/>
          <p:cNvSpPr txBox="1"/>
          <p:nvPr/>
        </p:nvSpPr>
        <p:spPr>
          <a:xfrm>
            <a:off x="9765792" y="53858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비밀번호를 한 곳에 암호화 저장, 권한으로만 사용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1팀  /  MISSION CRITICAL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헷갈리기 쉬운 것 3가지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F2D4E"/>
          </a:solidFill>
          <a:ln w="12700">
            <a:solidFill>
              <a:srgbClr val="1F2D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SSM 쓰면 NAT 게이트웨이 없어도 되나?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60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4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아니요. 방향이 다릅니다.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5468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= 서버가 밖으로 나가는 길 (패키지 설치, CloudWatch 전송)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SSM = 사람이 서버로 들어가는 길 (Bastion 대신)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둘 다 필요합니다.</a:t>
            </a:r>
            <a:endParaRPr lang="en-US" sz="11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4709160"/>
            <a:ext cx="640080" cy="6400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20540" y="160020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49140" y="1828800"/>
            <a:ext cx="502920" cy="502920"/>
          </a:xfrm>
          <a:prstGeom prst="ellipse">
            <a:avLst/>
          </a:prstGeom>
          <a:solidFill>
            <a:srgbClr val="1F2D4E"/>
          </a:solidFill>
          <a:ln w="12700">
            <a:solidFill>
              <a:srgbClr val="1F2D4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491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189220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NAT가 있는데 SSM은 왜?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49140" y="2560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4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NAT는 들어오는 요청을 못 받습니다.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4549140" y="315468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접속 수단은 Bastion 아니면 SSM 중 하나가 필요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SSM은 서버 1대 · 22번 포트 · SSH 키를 모두 없애 줌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접속 기록이 자동으로 남음</a:t>
            </a:r>
            <a:endParaRPr lang="en-US" sz="11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0" y="4709160"/>
            <a:ext cx="640080" cy="6400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092440" y="160020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21040" y="1828800"/>
            <a:ext cx="502920" cy="502920"/>
          </a:xfrm>
          <a:prstGeom prst="ellipse">
            <a:avLst/>
          </a:prstGeom>
          <a:solidFill>
            <a:srgbClr val="1F2D4E"/>
          </a:solidFill>
          <a:ln w="12700">
            <a:solidFill>
              <a:srgbClr val="1F2D4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3210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8961120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DB도 Auto Scaling 하면 안 되나?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8321040" y="2560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4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DB는 데이터가 한 곳에 있어야 해서 복제해 늘릴 수 없습니다.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8321040" y="315468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"늘리기" 대신 "지키기" 전략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Proxy로 연결 수 조절, Multi-AZ로 예비 DB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읽기 전용 복제본(Read Replica)은 앱 코드 수정 필요 → 이번 범위 밖</a:t>
            </a:r>
            <a:endParaRPr lang="en-US" sz="11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4709160"/>
            <a:ext cx="640080" cy="64008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1F2D4E"/>
          </a:solidFill>
          <a:ln w="12700">
            <a:solidFill>
              <a:srgbClr val="1F2D4E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31520" y="57607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한 문장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앞에서 거르고(CloudFront·WAF), 중간은 자동으로 늘리고(ASG), DB는 지킵니다(Proxy·Multi-AZ). 전부 CloudWatch로 재서 전/후를 비교합니다.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서비스 채택 이유</dc:title>
  <dc:subject>PptxGenJS Presentation</dc:subject>
  <dc:creator>PptxGenJS</dc:creator>
  <cp:lastModifiedBy>PptxGenJS</cp:lastModifiedBy>
  <cp:revision>1</cp:revision>
  <dcterms:created xsi:type="dcterms:W3CDTF">2026-09-13T11:24:55Z</dcterms:created>
  <dcterms:modified xsi:type="dcterms:W3CDTF">2026-09-13T11:24:55Z</dcterms:modified>
</cp:coreProperties>
</file>